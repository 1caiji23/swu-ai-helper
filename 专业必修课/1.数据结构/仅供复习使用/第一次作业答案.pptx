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527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566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525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570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2020/10/30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815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36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2020/10/30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92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719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049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983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4D253-40DF-43B6-8E5A-682344597D75}" type="datetimeFigureOut">
              <a:rPr lang="zh-CN" altLang="en-US" smtClean="0"/>
              <a:t>2020/10/30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387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023F5D-5DA1-40D7-9BA8-6493DB1A0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2020/10/30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6471E8-54CB-4202-A3C6-90B01809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F77563-29B0-4356-A303-AE800B85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3E3C003-8E9C-4365-823C-82B7C5500835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7" name="Freeform 19">
              <a:extLst>
                <a:ext uri="{FF2B5EF4-FFF2-40B4-BE49-F238E27FC236}">
                  <a16:creationId xmlns:a16="http://schemas.microsoft.com/office/drawing/2014/main" id="{C257D5DF-CE0E-4C99-985B-0B4C13D2B5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8" name="Freeform 20">
              <a:extLst>
                <a:ext uri="{FF2B5EF4-FFF2-40B4-BE49-F238E27FC236}">
                  <a16:creationId xmlns:a16="http://schemas.microsoft.com/office/drawing/2014/main" id="{5974DED5-33E1-49C1-AF8C-8B5F96507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CDD240BC-AA8E-4720-BAA8-8BA4C39FE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9A9F355C-7215-4E87-9E0A-CBAB62AE6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6BC2044B-E150-4A79-8D26-74FB2501B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25612C91-115E-4128-855F-10BD57AAE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16EF1DEE-0FED-4AA1-9700-3B6F1E1F0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4" name="Freeform 31">
              <a:extLst>
                <a:ext uri="{FF2B5EF4-FFF2-40B4-BE49-F238E27FC236}">
                  <a16:creationId xmlns:a16="http://schemas.microsoft.com/office/drawing/2014/main" id="{AAF0374A-1288-4700-896B-86285883F4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5" name="Freeform 33">
              <a:extLst>
                <a:ext uri="{FF2B5EF4-FFF2-40B4-BE49-F238E27FC236}">
                  <a16:creationId xmlns:a16="http://schemas.microsoft.com/office/drawing/2014/main" id="{7D81EB79-E6D8-443B-9F25-3632F36DD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63830C7F-65F9-43AA-9355-6CAEDED93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7" name="Freeform 36">
              <a:extLst>
                <a:ext uri="{FF2B5EF4-FFF2-40B4-BE49-F238E27FC236}">
                  <a16:creationId xmlns:a16="http://schemas.microsoft.com/office/drawing/2014/main" id="{E76BFCB5-3408-4815-994A-C5FAA567D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8" name="Freeform 38">
              <a:extLst>
                <a:ext uri="{FF2B5EF4-FFF2-40B4-BE49-F238E27FC236}">
                  <a16:creationId xmlns:a16="http://schemas.microsoft.com/office/drawing/2014/main" id="{D6B762C4-5A72-4258-BCD6-5C2E1AE23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9" name="Freeform 39">
              <a:extLst>
                <a:ext uri="{FF2B5EF4-FFF2-40B4-BE49-F238E27FC236}">
                  <a16:creationId xmlns:a16="http://schemas.microsoft.com/office/drawing/2014/main" id="{A0A4C5B5-789D-4B57-AB81-F1BECC99F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0" name="Freeform 40">
              <a:extLst>
                <a:ext uri="{FF2B5EF4-FFF2-40B4-BE49-F238E27FC236}">
                  <a16:creationId xmlns:a16="http://schemas.microsoft.com/office/drawing/2014/main" id="{C4687E93-7A61-425A-AC28-D6A69E437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E77F7FB3-7D4B-4EE8-8C35-D8BEA5987A6F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AD29A9F-3345-4BDF-A499-439F172F09EA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2CD5622-DE7E-4C1E-B6EA-708E11DA3CDB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A896EB44-3B45-4E38-A7E0-31F9276BD6C7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DF0DF9F5-CB0F-49DE-8417-B59A7FE49E32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2F6D0600-79C9-47D7-A603-9826D08A19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98C9D191-75C4-4AFA-B3AC-08AADC2886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24BE8ED6-9F15-4ADD-8CAE-31923EA147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920400D0-F830-4C39-983C-8595B8D475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9CE450E-939E-4F1D-8DA0-33C42F3245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614FF597-786A-488B-AAEE-43BA22BE85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3625BAE8-57FD-4A77-861D-AE8635915A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8E74C1B8-9A0B-4BD3-823D-9994C0353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1CE2847F-CDC1-43B3-A4B7-7816C379F19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3B95921D-5B97-42A6-9EF6-C8FDC6CA6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1F12BC9D-9E62-41B9-BA9A-48C04D1F48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0966FB55-6969-45AA-A00A-302DF34C63D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B3BA570A-50BA-4498-9C53-46D2663A2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21">
                <a:extLst>
                  <a:ext uri="{FF2B5EF4-FFF2-40B4-BE49-F238E27FC236}">
                    <a16:creationId xmlns:a16="http://schemas.microsoft.com/office/drawing/2014/main" id="{B3566405-4CCC-421B-BCEA-0A6F29CA02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DC9A54A7-8E63-4315-81E2-F5F5BD20B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1B0E2042-A2FA-4FD3-A360-38FEABB0B0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6116D539-A9F8-4621-8654-A2282E1C4D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814CE22-16C9-4C83-AE88-3549CDA260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83831B9C-16B2-43D0-A1A4-97235E4BC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4FFF5076-0286-49F8-B969-71DC20845A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DC4A2536-478A-4479-BBDB-C1A832F7C7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304527B4-B693-42AD-8369-7FBF4CAC5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14307D10-7924-4F7B-9DC6-1785600E62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649EC69D-341B-4F89-8AFF-DDE0C6A96E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Freeform 32">
                <a:extLst>
                  <a:ext uri="{FF2B5EF4-FFF2-40B4-BE49-F238E27FC236}">
                    <a16:creationId xmlns:a16="http://schemas.microsoft.com/office/drawing/2014/main" id="{07866278-8AEC-49F6-A37A-E817DF8BE0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Freeform 33">
                <a:extLst>
                  <a:ext uri="{FF2B5EF4-FFF2-40B4-BE49-F238E27FC236}">
                    <a16:creationId xmlns:a16="http://schemas.microsoft.com/office/drawing/2014/main" id="{12C0D2F0-E8BA-4AD1-AEEF-213030E42D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Freeform 34">
                <a:extLst>
                  <a:ext uri="{FF2B5EF4-FFF2-40B4-BE49-F238E27FC236}">
                    <a16:creationId xmlns:a16="http://schemas.microsoft.com/office/drawing/2014/main" id="{6DAED316-684A-46E7-9759-C109048870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Freeform 46">
                <a:extLst>
                  <a:ext uri="{FF2B5EF4-FFF2-40B4-BE49-F238E27FC236}">
                    <a16:creationId xmlns:a16="http://schemas.microsoft.com/office/drawing/2014/main" id="{02060035-CFEA-41A1-8C7B-81DA62978B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47">
                <a:extLst>
                  <a:ext uri="{FF2B5EF4-FFF2-40B4-BE49-F238E27FC236}">
                    <a16:creationId xmlns:a16="http://schemas.microsoft.com/office/drawing/2014/main" id="{C317904C-47FB-49E9-A6D2-441590594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48">
                <a:extLst>
                  <a:ext uri="{FF2B5EF4-FFF2-40B4-BE49-F238E27FC236}">
                    <a16:creationId xmlns:a16="http://schemas.microsoft.com/office/drawing/2014/main" id="{40FA5D6E-F0A2-442F-B276-FA3C18CDA9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Freeform 49">
                <a:extLst>
                  <a:ext uri="{FF2B5EF4-FFF2-40B4-BE49-F238E27FC236}">
                    <a16:creationId xmlns:a16="http://schemas.microsoft.com/office/drawing/2014/main" id="{33ECC6F9-472E-46D9-BF13-1EBCACCE26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Freeform 50">
                <a:extLst>
                  <a:ext uri="{FF2B5EF4-FFF2-40B4-BE49-F238E27FC236}">
                    <a16:creationId xmlns:a16="http://schemas.microsoft.com/office/drawing/2014/main" id="{00F4D34E-1FD6-498C-A92C-4B9F5B2A06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Freeform 51">
                <a:extLst>
                  <a:ext uri="{FF2B5EF4-FFF2-40B4-BE49-F238E27FC236}">
                    <a16:creationId xmlns:a16="http://schemas.microsoft.com/office/drawing/2014/main" id="{62E05761-4BE3-4596-BC7B-E843ED896F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Freeform 52">
                <a:extLst>
                  <a:ext uri="{FF2B5EF4-FFF2-40B4-BE49-F238E27FC236}">
                    <a16:creationId xmlns:a16="http://schemas.microsoft.com/office/drawing/2014/main" id="{111A3351-C750-426B-A5B1-1EA92B4F49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53">
                <a:extLst>
                  <a:ext uri="{FF2B5EF4-FFF2-40B4-BE49-F238E27FC236}">
                    <a16:creationId xmlns:a16="http://schemas.microsoft.com/office/drawing/2014/main" id="{BFB3222C-C817-43E8-ABAD-7EC38B06B5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" name="Freeform 54">
                <a:extLst>
                  <a:ext uri="{FF2B5EF4-FFF2-40B4-BE49-F238E27FC236}">
                    <a16:creationId xmlns:a16="http://schemas.microsoft.com/office/drawing/2014/main" id="{81F3035C-7082-4827-A287-B9945C1999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Freeform 55">
                <a:extLst>
                  <a:ext uri="{FF2B5EF4-FFF2-40B4-BE49-F238E27FC236}">
                    <a16:creationId xmlns:a16="http://schemas.microsoft.com/office/drawing/2014/main" id="{6BC705B7-36EF-4EE1-A9B9-FFFB8110EA9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Freeform 56">
                <a:extLst>
                  <a:ext uri="{FF2B5EF4-FFF2-40B4-BE49-F238E27FC236}">
                    <a16:creationId xmlns:a16="http://schemas.microsoft.com/office/drawing/2014/main" id="{D736225A-4414-430B-9F38-B5C05B527F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Freeform 57">
                <a:extLst>
                  <a:ext uri="{FF2B5EF4-FFF2-40B4-BE49-F238E27FC236}">
                    <a16:creationId xmlns:a16="http://schemas.microsoft.com/office/drawing/2014/main" id="{7A41B186-F0F5-42FF-9D4A-C0979B626E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Freeform 58">
                <a:extLst>
                  <a:ext uri="{FF2B5EF4-FFF2-40B4-BE49-F238E27FC236}">
                    <a16:creationId xmlns:a16="http://schemas.microsoft.com/office/drawing/2014/main" id="{4E74C4E6-BA0A-498F-B7B1-985C9DBAB9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67" name="文本占位符 65">
            <a:extLst>
              <a:ext uri="{FF2B5EF4-FFF2-40B4-BE49-F238E27FC236}">
                <a16:creationId xmlns:a16="http://schemas.microsoft.com/office/drawing/2014/main" id="{4723E697-2A10-4CB1-9E9F-12DB547B6ED2}"/>
              </a:ext>
            </a:extLst>
          </p:cNvPr>
          <p:cNvSpPr>
            <a:spLocks noGrp="1"/>
          </p:cNvSpPr>
          <p:nvPr userDrawn="1"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718757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D253-40DF-43B6-8E5A-682344597D75}" type="datetimeFigureOut">
              <a:rPr lang="zh-CN" altLang="en-US" smtClean="0"/>
              <a:t>2020/10/30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B54C9-F109-4DF3-9667-7D2D6FC7A0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62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1097899" y="253873"/>
            <a:ext cx="1217169" cy="605909"/>
          </a:xfrm>
        </p:spPr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</a:p>
        </p:txBody>
      </p:sp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0643" y="1127914"/>
            <a:ext cx="10684041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514350" indent="-514350" algn="just" eaLnBrk="1" hangingPunct="1">
              <a:lnSpc>
                <a:spcPts val="4500"/>
              </a:lnSpc>
              <a:buAutoNum type="arabicPeriod"/>
            </a:pPr>
            <a:r>
              <a:rPr kumimoji="1"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描述算法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Tr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transformation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之缩写</a:t>
            </a:r>
            <a:r>
              <a:rPr kumimoji="1"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，将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充分加括号的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中缀表达式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即每对括号内仅有一个运算符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变换成后缀表达式，堆栈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S 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保存扫描中缀表达式得到的暂不能加入后缀表达式的运算符，队列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Q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保存后缀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表达式。</a:t>
            </a:r>
            <a:endParaRPr kumimoji="1" lang="en-US" altLang="zh-CN" sz="2400" b="1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514350" indent="-514350" algn="just" eaLnBrk="1" hangingPunct="1">
              <a:lnSpc>
                <a:spcPts val="4500"/>
              </a:lnSpc>
              <a:buAutoNum type="arabicPeriod"/>
            </a:pPr>
            <a:r>
              <a:rPr kumimoji="1"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已知长度为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，并且按值有序的线性表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采用顺序存储结构（假设每个数据元素为一个非零的正整数），写一算法效率较高的算法，删除数据元素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到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y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（</a:t>
            </a:r>
            <a:r>
              <a:rPr kumimoji="1" lang="en-US" altLang="zh-CN" sz="2400" b="1" dirty="0" err="1" smtClean="0">
                <a:latin typeface="Times New Roman" panose="02020603050405020304" pitchFamily="18" charset="0"/>
                <a:ea typeface="楷体" panose="02010609060101010101" pitchFamily="49" charset="-122"/>
              </a:rPr>
              <a:t>x≤y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）之间的所有元素。</a:t>
            </a:r>
            <a:endParaRPr kumimoji="1" lang="en-US" altLang="zh-CN" sz="2400" b="1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514350" indent="-514350" algn="just" eaLnBrk="1" hangingPunct="1">
              <a:lnSpc>
                <a:spcPts val="4500"/>
              </a:lnSpc>
              <a:buAutoNum type="arabicPeriod"/>
            </a:pPr>
            <a:r>
              <a:rPr kumimoji="1"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利用两个栈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S1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和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S2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模拟一个队列，写出入队和出队算法（可以用栈的基本操作。）</a:t>
            </a:r>
            <a:endParaRPr kumimoji="1"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093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1097899" y="253874"/>
            <a:ext cx="683114" cy="605909"/>
          </a:xfrm>
        </p:spPr>
        <p:txBody>
          <a:bodyPr/>
          <a:lstStyle/>
          <a:p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TextBox 1"/>
          <p:cNvSpPr txBox="1">
            <a:spLocks noChangeArrowheads="1"/>
          </p:cNvSpPr>
          <p:nvPr/>
        </p:nvSpPr>
        <p:spPr bwMode="auto">
          <a:xfrm>
            <a:off x="2051039" y="180541"/>
            <a:ext cx="8942387" cy="647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793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3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S1. </a:t>
            </a: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READ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). 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kumimoji="1"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左起依次读取中缀表达式的 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kumimoji="1"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个符号</a:t>
            </a:r>
          </a:p>
          <a:p>
            <a:pPr algn="just" eaLnBrk="1" hangingPunct="1">
              <a:lnSpc>
                <a:spcPts val="3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S2. </a:t>
            </a: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IF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是操作数 </a:t>
            </a: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THEN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Q 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 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algn="just" eaLnBrk="1" hangingPunct="1">
              <a:lnSpc>
                <a:spcPts val="3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S3. </a:t>
            </a: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IF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是运算符  </a:t>
            </a: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THEN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kumimoji="1"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运算符包括括号 </a:t>
            </a:r>
          </a:p>
          <a:p>
            <a:pPr eaLnBrk="1" hangingPunct="1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IF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S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为空   </a:t>
            </a:r>
          </a:p>
          <a:p>
            <a:pPr eaLnBrk="1" hangingPunct="1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</a:t>
            </a: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THEN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S 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 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. </a:t>
            </a:r>
          </a:p>
          <a:p>
            <a:pPr algn="just" eaLnBrk="1" hangingPunct="1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</a:t>
            </a: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ELSE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  S </a:t>
            </a:r>
            <a:r>
              <a:rPr kumimoji="1"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非空</a:t>
            </a:r>
            <a:r>
              <a:rPr kumimoji="1"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kumimoji="1"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运算符的优先级高于括号</a:t>
            </a:r>
          </a:p>
          <a:p>
            <a:pPr algn="just" eaLnBrk="1" hangingPunct="1"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</a:t>
            </a: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CASE DO 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  //</a:t>
            </a:r>
            <a:r>
              <a:rPr kumimoji="1"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top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(S): </a:t>
            </a:r>
            <a:r>
              <a:rPr kumimoji="1"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栈顶元素</a:t>
            </a:r>
            <a:endParaRPr kumimoji="1"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ts val="3000"/>
              </a:lnSpc>
            </a:pP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的优先级高于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top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): ( S 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 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)</a:t>
            </a:r>
            <a:endParaRPr kumimoji="1" lang="en-US" altLang="zh-CN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ts val="3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top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的优先级高于等于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</a:p>
          <a:p>
            <a:pPr lvl="1" algn="just" eaLnBrk="1" hangingPunct="1">
              <a:lnSpc>
                <a:spcPts val="3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(</a:t>
            </a: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WHILE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top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的优先级高于等于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  DO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( 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t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 S. 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Q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 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t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.).</a:t>
            </a:r>
          </a:p>
          <a:p>
            <a:pPr lvl="1" algn="just" eaLnBrk="1" hangingPunct="1">
              <a:lnSpc>
                <a:spcPts val="3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S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 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</a:p>
          <a:p>
            <a:pPr lvl="1" algn="just" eaLnBrk="1" hangingPunct="1">
              <a:lnSpc>
                <a:spcPts val="3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        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是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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(: ( 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S 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 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)</a:t>
            </a:r>
          </a:p>
          <a:p>
            <a:pPr lvl="1" algn="just" eaLnBrk="1" hangingPunct="1">
              <a:lnSpc>
                <a:spcPts val="3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        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x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是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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):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</a:p>
          <a:p>
            <a:pPr lvl="1" algn="just" eaLnBrk="1" hangingPunct="1">
              <a:lnSpc>
                <a:spcPts val="3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               (</a:t>
            </a: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WHILE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top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(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S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 ( </a:t>
            </a: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DO 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t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 S. 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Q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 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t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). </a:t>
            </a:r>
            <a:r>
              <a:rPr kumimoji="1" lang="en-US" altLang="zh-CN" b="1" i="1" dirty="0">
                <a:ea typeface="楷体" panose="02010609060101010101" pitchFamily="49" charset="-122"/>
              </a:rPr>
              <a:t>t</a:t>
            </a:r>
            <a:r>
              <a:rPr kumimoji="1" lang="en-US" altLang="zh-CN" b="1" dirty="0">
                <a:ea typeface="楷体" panose="02010609060101010101" pitchFamily="49" charset="-122"/>
                <a:sym typeface="Symbol" panose="05050102010706020507" pitchFamily="18" charset="2"/>
              </a:rPr>
              <a:t> S. 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).</a:t>
            </a:r>
          </a:p>
          <a:p>
            <a:pPr lvl="1" algn="just" eaLnBrk="1" hangingPunct="1">
              <a:lnSpc>
                <a:spcPts val="3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S4. </a:t>
            </a: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IF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x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是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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#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 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// 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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#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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: </a:t>
            </a:r>
            <a:r>
              <a:rPr kumimoji="1"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中缀表达式的结束符</a:t>
            </a:r>
            <a:endParaRPr kumimoji="1"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sym typeface="Symbol" panose="05050102010706020507" pitchFamily="18" charset="2"/>
            </a:endParaRPr>
          </a:p>
          <a:p>
            <a:pPr lvl="1" algn="just" eaLnBrk="1" hangingPunct="1">
              <a:lnSpc>
                <a:spcPts val="3000"/>
              </a:lnSpc>
            </a:pP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        </a:t>
            </a: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THEN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</a:t>
            </a: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WHILE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S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非空 </a:t>
            </a: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DO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(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t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 S. 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Q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 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  <a:sym typeface="Symbol" panose="05050102010706020507" pitchFamily="18" charset="2"/>
              </a:rPr>
              <a:t>t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). </a:t>
            </a: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RETURN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.</a:t>
            </a:r>
          </a:p>
          <a:p>
            <a:pPr algn="just" eaLnBrk="1" hangingPunct="1">
              <a:lnSpc>
                <a:spcPts val="3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S5. </a:t>
            </a: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READ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(</a:t>
            </a:r>
            <a:r>
              <a:rPr kumimoji="1"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). </a:t>
            </a: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GOTO  </a:t>
            </a:r>
            <a:r>
              <a:rPr kumimoji="1"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S2 .   ▌</a:t>
            </a:r>
          </a:p>
        </p:txBody>
      </p:sp>
    </p:spTree>
    <p:extLst>
      <p:ext uri="{BB962C8B-B14F-4D97-AF65-F5344CB8AC3E}">
        <p14:creationId xmlns:p14="http://schemas.microsoft.com/office/powerpoint/2010/main" val="1713445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1097899" y="253874"/>
            <a:ext cx="689598" cy="605909"/>
          </a:xfrm>
        </p:spPr>
        <p:txBody>
          <a:bodyPr/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229" y="499704"/>
            <a:ext cx="6533900" cy="356353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229" y="4063236"/>
            <a:ext cx="5585124" cy="107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515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1097899" y="253874"/>
            <a:ext cx="689598" cy="605909"/>
          </a:xfrm>
        </p:spPr>
        <p:txBody>
          <a:bodyPr/>
          <a:lstStyle/>
          <a:p>
            <a:r>
              <a:rPr lang="en-US" altLang="zh-CN" dirty="0" smtClean="0"/>
              <a:t>3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481" y="556828"/>
            <a:ext cx="5324117" cy="346686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481" y="4023695"/>
            <a:ext cx="5324117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416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338</Words>
  <Application>Microsoft Office PowerPoint</Application>
  <PresentationFormat>宽屏</PresentationFormat>
  <Paragraphs>24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等线 Light</vt:lpstr>
      <vt:lpstr>管峻楷书简体</vt:lpstr>
      <vt:lpstr>思源宋体 CN Heavy</vt:lpstr>
      <vt:lpstr>Arial</vt:lpstr>
      <vt:lpstr>Segoe UI</vt:lpstr>
      <vt:lpstr>Symbol</vt:lpstr>
      <vt:lpstr>Times New Roman</vt:lpstr>
      <vt:lpstr>Wingdings</vt:lpstr>
      <vt:lpstr>等线</vt:lpstr>
      <vt:lpstr>楷体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fengminyu</dc:creator>
  <cp:lastModifiedBy>fengminyu</cp:lastModifiedBy>
  <cp:revision>1</cp:revision>
  <dcterms:created xsi:type="dcterms:W3CDTF">2020-10-30T13:32:06Z</dcterms:created>
  <dcterms:modified xsi:type="dcterms:W3CDTF">2020-10-30T13:38:50Z</dcterms:modified>
</cp:coreProperties>
</file>